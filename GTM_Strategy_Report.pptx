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Go-To-Market Strategy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FlowPilot AI — AI Productivity SaaS launch case study</a:t>
            </a:r>
          </a:p>
          <a:p>
            <a:pPr>
              <a:spcAft>
                <a:spcPts val="1000"/>
              </a:spcAft>
              <a:defRPr sz="1800"/>
            </a:pPr>
            <a:r>
              <a:t>Market → Customer → Positioning → Channel → Acquisition → Conversion → Revenue → Launch →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Problem &amp;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Fragmented workflows, repetitive coordination and missed follow-ups.</a:t>
            </a:r>
          </a:p>
          <a:p>
            <a:pPr>
              <a:spcAft>
                <a:spcPts val="1000"/>
              </a:spcAft>
              <a:defRPr sz="1800"/>
            </a:pPr>
            <a:r>
              <a:t>AI execution workspace for SMB and mid-market operations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Illustrative TAM: $2.4B</a:t>
            </a:r>
          </a:p>
          <a:p>
            <a:pPr>
              <a:spcAft>
                <a:spcPts val="1000"/>
              </a:spcAft>
              <a:defRPr sz="1800"/>
            </a:pPr>
            <a:r>
              <a:t>Illustrative SAM: $480M</a:t>
            </a:r>
          </a:p>
          <a:p>
            <a:pPr>
              <a:spcAft>
                <a:spcPts val="1000"/>
              </a:spcAft>
              <a:defRPr sz="1800"/>
            </a:pPr>
            <a:r>
              <a:t>Illustrative SOM: $24M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Evaluate pain severity, market potential, willingness to pay, acquisition ease and strategic fit.</a:t>
            </a:r>
          </a:p>
          <a:p>
            <a:pPr>
              <a:spcAft>
                <a:spcPts val="1000"/>
              </a:spcAft>
              <a:defRPr sz="1800"/>
            </a:pPr>
            <a:r>
              <a:t>Primary focus: SMB and mid-market operations leaders.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Priya Patel — Founder/COO</a:t>
            </a:r>
          </a:p>
          <a:p>
            <a:pPr>
              <a:spcAft>
                <a:spcPts val="1000"/>
              </a:spcAft>
              <a:defRPr sz="1800"/>
            </a:pPr>
            <a:r>
              <a:t>Rahul Mehta — Operations Manager</a:t>
            </a:r>
          </a:p>
          <a:p>
            <a:pPr>
              <a:spcAft>
                <a:spcPts val="1000"/>
              </a:spcAft>
              <a:defRPr sz="1800"/>
            </a:pPr>
            <a:r>
              <a:t>Sarah Wilson — Head of Operations</a:t>
            </a:r>
          </a:p>
          <a:p>
            <a:pPr>
              <a:spcAft>
                <a:spcPts val="1000"/>
              </a:spcAft>
              <a:defRPr sz="1800"/>
            </a:pPr>
            <a:r>
              <a:t>Daniel Lee — IT Manager</a:t>
            </a:r>
          </a:p>
          <a:p>
            <a:pPr>
              <a:spcAft>
                <a:spcPts val="1000"/>
              </a:spcAft>
              <a:defRPr sz="1800"/>
            </a:pPr>
            <a:r>
              <a:t>Aisha Khan — Revenue Lead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Positioning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AI execution layer rather than generic workspace.</a:t>
            </a:r>
          </a:p>
          <a:p>
            <a:pPr>
              <a:spcAft>
                <a:spcPts val="1000"/>
              </a:spcAft>
              <a:defRPr sz="1800"/>
            </a:pPr>
            <a:r>
              <a:t>Focus on measurable execution speed and lower coordination overhead.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Competitor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Notion, ClickUp, Asana, Monday.com and Microsoft 365 Copilot.</a:t>
            </a:r>
          </a:p>
          <a:p>
            <a:pPr>
              <a:spcAft>
                <a:spcPts val="1000"/>
              </a:spcAft>
              <a:defRPr sz="1800"/>
            </a:pPr>
            <a:r>
              <a:t>Opportunity: focused AI workflow execution for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Value-based subscription recommended.</a:t>
            </a:r>
          </a:p>
          <a:p>
            <a:pPr>
              <a:spcAft>
                <a:spcPts val="1000"/>
              </a:spcAft>
              <a:defRPr sz="1800"/>
            </a:pPr>
            <a:r>
              <a:t>Competitor pricing is a guardrail, not the anchor.</a:t>
            </a:r>
          </a:p>
          <a:p>
            <a:pPr>
              <a:spcAft>
                <a:spcPts val="1000"/>
              </a:spcAft>
              <a:defRPr sz="1800"/>
            </a:pPr>
            <a:r>
              <a:t>Limited trial reduces adoption friction.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Channel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Priority: LinkedIn, webinars, partnerships and high-intent search.</a:t>
            </a:r>
          </a:p>
          <a:p>
            <a:pPr>
              <a:spcAft>
                <a:spcPts val="1000"/>
              </a:spcAft>
              <a:defRPr sz="1800"/>
            </a:pPr>
            <a:r>
              <a:t>Secondary: SEO, community, email and YouTube.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GTM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Awareness → Interest → Lead → Qualified Lead → Demo/Trial → Conversion → Activation → Retention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Revenue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Worst Case annual revenue: $6,927,753</a:t>
            </a:r>
          </a:p>
          <a:p>
            <a:pPr>
              <a:spcAft>
                <a:spcPts val="1000"/>
              </a:spcAft>
              <a:defRPr sz="1800"/>
            </a:pPr>
            <a:r>
              <a:t>Base Case annual revenue: $14,882,995</a:t>
            </a:r>
          </a:p>
          <a:p>
            <a:pPr>
              <a:spcAft>
                <a:spcPts val="1000"/>
              </a:spcAft>
              <a:defRPr sz="1800"/>
            </a:pPr>
            <a:r>
              <a:t>Best Case annual revenue: $24,417,746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Launch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Overall score: 78/100</a:t>
            </a:r>
          </a:p>
          <a:p>
            <a:pPr>
              <a:spcAft>
                <a:spcPts val="1000"/>
              </a:spcAft>
              <a:defRPr sz="1800"/>
            </a:pPr>
            <a:r>
              <a:t>Assess product, engineering, sales, marketing, support, legal/compliance and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GTM 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Key risks: low demand, product bugs, high CAC and poor onboarding.</a:t>
            </a:r>
          </a:p>
          <a:p>
            <a:pPr>
              <a:spcAft>
                <a:spcPts val="1000"/>
              </a:spcAft>
              <a:defRPr sz="1800"/>
            </a:pPr>
            <a:r>
              <a:t>Mitigation plans are included in the workbook.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30-60-90 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Days 1-30: preparation and validation.</a:t>
            </a:r>
          </a:p>
          <a:p>
            <a:pPr>
              <a:spcAft>
                <a:spcPts val="1000"/>
              </a:spcAft>
              <a:defRPr sz="1800"/>
            </a:pPr>
            <a:r>
              <a:t>Days 31-60: launch and acquisition.</a:t>
            </a:r>
          </a:p>
          <a:p>
            <a:pPr>
              <a:spcAft>
                <a:spcPts val="1000"/>
              </a:spcAft>
              <a:defRPr sz="1800"/>
            </a:pPr>
            <a:r>
              <a:t>Days 61-90: optimization, retention and scaling.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Target operations leaders first.</a:t>
            </a:r>
          </a:p>
          <a:p>
            <a:pPr>
              <a:spcAft>
                <a:spcPts val="1000"/>
              </a:spcAft>
              <a:defRPr sz="1800"/>
            </a:pPr>
            <a:r>
              <a:t>Lead with measurable productivity outcomes.</a:t>
            </a:r>
          </a:p>
          <a:p>
            <a:pPr>
              <a:spcAft>
                <a:spcPts val="1000"/>
              </a:spcAft>
              <a:defRPr sz="1800"/>
            </a:pPr>
            <a:r>
              <a:t>Concentrate spend on high-fit channels.</a:t>
            </a:r>
          </a:p>
          <a:p>
            <a:pPr>
              <a:spcAft>
                <a:spcPts val="1000"/>
              </a:spcAft>
              <a:defRPr sz="1800"/>
            </a:pPr>
            <a:r>
              <a:t>Use value-based pricing.</a:t>
            </a:r>
          </a:p>
          <a:p>
            <a:pPr>
              <a:spcAft>
                <a:spcPts val="1000"/>
              </a:spcAft>
              <a:defRPr sz="1800"/>
            </a:pPr>
            <a:r>
              <a:t>Scale only after activation and retention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GitHub &amp;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Repository: gtm-strategy-planner-product-launch</a:t>
            </a:r>
          </a:p>
          <a:p>
            <a:pPr>
              <a:spcAft>
                <a:spcPts val="1000"/>
              </a:spcAft>
              <a:defRPr sz="1800"/>
            </a:pPr>
            <a:r>
              <a:t>Upload workbook, CSV, reports, README and dashboard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